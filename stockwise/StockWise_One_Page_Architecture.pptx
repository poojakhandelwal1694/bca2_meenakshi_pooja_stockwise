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65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88503" y="228600"/>
            <a:ext cx="4801635" cy="429054"/>
          </a:xfrm>
          <a:prstGeom prst="roundRect">
            <a:avLst/>
          </a:prstGeom>
          <a:solidFill>
            <a:schemeClr val="bg2"/>
          </a:solidFill>
        </p:spPr>
        <p:txBody>
          <a:bodyPr wrap="none" lIns="18288" tIns="9144" rIns="18288" bIns="9144">
            <a:spAutoFit/>
          </a:bodyPr>
          <a:lstStyle/>
          <a:p>
            <a:pPr algn="ctr"/>
            <a:r>
              <a:rPr sz="2400" b="1" dirty="0" err="1">
                <a:solidFill>
                  <a:srgbClr val="11651F"/>
                </a:solidFill>
                <a:latin typeface="Aptos"/>
              </a:rPr>
              <a:t>StockWise</a:t>
            </a:r>
            <a:r>
              <a:rPr sz="2400" b="1" dirty="0">
                <a:solidFill>
                  <a:srgbClr val="11651F"/>
                </a:solidFill>
                <a:latin typeface="Aptos"/>
              </a:rPr>
              <a:t> —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89871" y="694944"/>
            <a:ext cx="4910062" cy="187744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ctr"/>
            <a:r>
              <a:rPr sz="1100" b="0">
                <a:solidFill>
                  <a:srgbClr val="11651F"/>
                </a:solidFill>
                <a:latin typeface="Aptos"/>
              </a:rPr>
              <a:t>How a user request moves through the web application and returns with a result.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1874519" cy="1965960"/>
          </a:xfrm>
          <a:prstGeom prst="roundRect">
            <a:avLst/>
          </a:prstGeom>
          <a:solidFill>
            <a:srgbClr val="EBF2FA"/>
          </a:solidFill>
          <a:ln w="16510">
            <a:solidFill>
              <a:srgbClr val="6B8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rIns="118872" rtlCol="0" anchor="ctr"/>
          <a:lstStyle/>
          <a:p>
            <a:pPr algn="ctr"/>
            <a:r>
              <a:rPr sz="1500" b="1" dirty="0">
                <a:solidFill>
                  <a:srgbClr val="222D3A"/>
                </a:solidFill>
                <a:latin typeface="Aptos Display"/>
              </a:rPr>
              <a:t>Browser</a:t>
            </a:r>
          </a:p>
          <a:p>
            <a:pPr algn="ctr">
              <a:spcBef>
                <a:spcPts val="300"/>
              </a:spcBef>
            </a:pPr>
            <a:r>
              <a:rPr sz="950" dirty="0">
                <a:solidFill>
                  <a:srgbClr val="4B5662"/>
                </a:solidFill>
                <a:latin typeface="Aptos"/>
              </a:rPr>
              <a:t>User interface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sz="900" dirty="0">
                <a:solidFill>
                  <a:srgbClr val="303A46"/>
                </a:solidFill>
                <a:latin typeface="Aptos"/>
              </a:rPr>
              <a:t>HTML page
 CSS layout
 User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1737360"/>
            <a:ext cx="1874519" cy="1965960"/>
          </a:xfrm>
          <a:prstGeom prst="roundRect">
            <a:avLst/>
          </a:prstGeom>
          <a:solidFill>
            <a:srgbClr val="ECF7F2"/>
          </a:solidFill>
          <a:ln w="16510">
            <a:solidFill>
              <a:srgbClr val="5D9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rIns="118872" rtlCol="0" anchor="ctr"/>
          <a:lstStyle/>
          <a:p>
            <a:pPr algn="ctr"/>
            <a:r>
              <a:rPr sz="1500" b="1" dirty="0">
                <a:solidFill>
                  <a:srgbClr val="222D3A"/>
                </a:solidFill>
                <a:latin typeface="Aptos Display"/>
              </a:rPr>
              <a:t>JavaScript</a:t>
            </a:r>
          </a:p>
          <a:p>
            <a:pPr algn="ctr">
              <a:spcBef>
                <a:spcPts val="300"/>
              </a:spcBef>
            </a:pPr>
            <a:r>
              <a:rPr sz="950" dirty="0">
                <a:solidFill>
                  <a:srgbClr val="4B5662"/>
                </a:solidFill>
                <a:latin typeface="Aptos"/>
              </a:rPr>
              <a:t>Frontend logic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sz="900" dirty="0">
                <a:solidFill>
                  <a:srgbClr val="303A46"/>
                </a:solidFill>
                <a:latin typeface="Aptos"/>
              </a:rPr>
              <a:t>• Form validation
• DOM updates
• fetch / async-await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35592" y="1737360"/>
            <a:ext cx="1874519" cy="1965960"/>
          </a:xfrm>
          <a:prstGeom prst="roundRect">
            <a:avLst/>
          </a:prstGeom>
          <a:solidFill>
            <a:srgbClr val="FAF4E5"/>
          </a:solidFill>
          <a:ln w="16510">
            <a:solidFill>
              <a:srgbClr val="B89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rIns="118872" rtlCol="0" anchor="ctr"/>
          <a:lstStyle/>
          <a:p>
            <a:pPr algn="ctr"/>
            <a:r>
              <a:rPr sz="1500" b="1" dirty="0">
                <a:solidFill>
                  <a:srgbClr val="222D3A"/>
                </a:solidFill>
                <a:latin typeface="Aptos Display"/>
              </a:rPr>
              <a:t>REST API</a:t>
            </a:r>
          </a:p>
          <a:p>
            <a:pPr algn="ctr">
              <a:spcBef>
                <a:spcPts val="300"/>
              </a:spcBef>
            </a:pPr>
            <a:r>
              <a:rPr sz="950" dirty="0">
                <a:solidFill>
                  <a:srgbClr val="4B5662"/>
                </a:solidFill>
                <a:latin typeface="Aptos"/>
              </a:rPr>
              <a:t>HTTP endpoints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sz="900" dirty="0">
                <a:solidFill>
                  <a:srgbClr val="303A46"/>
                </a:solidFill>
                <a:latin typeface="Aptos"/>
              </a:rPr>
              <a:t> /</a:t>
            </a:r>
            <a:r>
              <a:rPr sz="900" dirty="0" err="1">
                <a:solidFill>
                  <a:srgbClr val="303A46"/>
                </a:solidFill>
                <a:latin typeface="Aptos"/>
              </a:rPr>
              <a:t>api</a:t>
            </a:r>
            <a:r>
              <a:rPr sz="900" dirty="0">
                <a:solidFill>
                  <a:srgbClr val="303A46"/>
                </a:solidFill>
                <a:latin typeface="Aptos"/>
              </a:rPr>
              <a:t>/auth
 /</a:t>
            </a:r>
            <a:r>
              <a:rPr sz="900" dirty="0" err="1">
                <a:solidFill>
                  <a:srgbClr val="303A46"/>
                </a:solidFill>
                <a:latin typeface="Aptos"/>
              </a:rPr>
              <a:t>api</a:t>
            </a:r>
            <a:r>
              <a:rPr sz="900" dirty="0">
                <a:solidFill>
                  <a:srgbClr val="303A46"/>
                </a:solidFill>
                <a:latin typeface="Aptos"/>
              </a:rPr>
              <a:t>/products</a:t>
            </a:r>
            <a:endParaRPr lang="en-IN" sz="900" dirty="0">
              <a:solidFill>
                <a:srgbClr val="303A46"/>
              </a:solidFill>
              <a:latin typeface="Aptos"/>
            </a:endParaRP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rgbClr val="303A46"/>
                </a:solidFill>
                <a:latin typeface="Aptos"/>
              </a:rPr>
              <a:t> /</a:t>
            </a:r>
            <a:r>
              <a:rPr lang="en-IN" sz="900" dirty="0" err="1">
                <a:solidFill>
                  <a:srgbClr val="303A46"/>
                </a:solidFill>
                <a:latin typeface="Aptos"/>
              </a:rPr>
              <a:t>api</a:t>
            </a:r>
            <a:r>
              <a:rPr lang="en-IN" sz="900" dirty="0">
                <a:solidFill>
                  <a:srgbClr val="303A46"/>
                </a:solidFill>
                <a:latin typeface="Aptos"/>
              </a:rPr>
              <a:t>/categories</a:t>
            </a:r>
            <a:r>
              <a:rPr sz="900" dirty="0">
                <a:solidFill>
                  <a:srgbClr val="303A46"/>
                </a:solidFill>
                <a:latin typeface="Aptos"/>
              </a:rPr>
              <a:t>
 /</a:t>
            </a:r>
            <a:r>
              <a:rPr sz="900" dirty="0" err="1">
                <a:solidFill>
                  <a:srgbClr val="303A46"/>
                </a:solidFill>
                <a:latin typeface="Aptos"/>
              </a:rPr>
              <a:t>api</a:t>
            </a:r>
            <a:r>
              <a:rPr sz="900" dirty="0">
                <a:solidFill>
                  <a:srgbClr val="303A46"/>
                </a:solidFill>
                <a:latin typeface="Aptos"/>
              </a:rPr>
              <a:t>/suppliers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90416" y="1737360"/>
            <a:ext cx="1874519" cy="1965960"/>
          </a:xfrm>
          <a:prstGeom prst="roundRect">
            <a:avLst/>
          </a:prstGeom>
          <a:solidFill>
            <a:srgbClr val="F1EDFA"/>
          </a:solidFill>
          <a:ln w="16510">
            <a:solidFill>
              <a:srgbClr val="8B7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rIns="118872" rtlCol="0" anchor="ctr"/>
          <a:lstStyle/>
          <a:p>
            <a:pPr algn="ctr"/>
            <a:r>
              <a:rPr sz="1500" b="1" dirty="0">
                <a:solidFill>
                  <a:srgbClr val="222D3A"/>
                </a:solidFill>
                <a:latin typeface="Aptos Display"/>
              </a:rPr>
              <a:t>Java + Spring Boot</a:t>
            </a:r>
            <a:endParaRPr lang="en-IN" sz="1500" b="1" dirty="0">
              <a:solidFill>
                <a:srgbClr val="222D3A"/>
              </a:solidFill>
              <a:latin typeface="Aptos Display"/>
            </a:endParaRPr>
          </a:p>
          <a:p>
            <a:pPr algn="ctr">
              <a:spcBef>
                <a:spcPts val="300"/>
              </a:spcBef>
            </a:pPr>
            <a:r>
              <a:rPr lang="en-IN" sz="950" dirty="0">
                <a:solidFill>
                  <a:srgbClr val="4B5662"/>
                </a:solidFill>
                <a:latin typeface="Aptos"/>
              </a:rPr>
              <a:t>Backend application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sz="900" dirty="0">
                <a:solidFill>
                  <a:srgbClr val="303A46"/>
                </a:solidFill>
                <a:latin typeface="Aptos"/>
              </a:rPr>
              <a:t> Controllers
 Business logic
 Repositories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24060" y="1737360"/>
            <a:ext cx="1874519" cy="1965960"/>
          </a:xfrm>
          <a:prstGeom prst="roundRect">
            <a:avLst/>
          </a:prstGeom>
          <a:solidFill>
            <a:srgbClr val="EBF3F5"/>
          </a:solidFill>
          <a:ln w="16510">
            <a:solidFill>
              <a:srgbClr val="5B9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rIns="118872" rtlCol="0" anchor="ctr"/>
          <a:lstStyle/>
          <a:p>
            <a:pPr algn="ctr"/>
            <a:r>
              <a:rPr sz="1500" b="1" dirty="0">
                <a:solidFill>
                  <a:srgbClr val="222D3A"/>
                </a:solidFill>
                <a:latin typeface="Aptos Display"/>
              </a:rPr>
              <a:t>MySQL</a:t>
            </a:r>
          </a:p>
          <a:p>
            <a:pPr algn="ctr">
              <a:spcBef>
                <a:spcPts val="300"/>
              </a:spcBef>
            </a:pPr>
            <a:r>
              <a:rPr sz="950" dirty="0">
                <a:solidFill>
                  <a:srgbClr val="4B5662"/>
                </a:solidFill>
                <a:latin typeface="Aptos"/>
              </a:rPr>
              <a:t>Persistent storage</a:t>
            </a: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sz="900" dirty="0">
                <a:solidFill>
                  <a:srgbClr val="303A46"/>
                </a:solidFill>
                <a:latin typeface="Aptos"/>
              </a:rPr>
              <a:t> Products &amp; categories
 Suppliers / batches</a:t>
            </a:r>
            <a:endParaRPr lang="en-IN" sz="900" dirty="0">
              <a:solidFill>
                <a:srgbClr val="303A46"/>
              </a:solidFill>
              <a:latin typeface="Aptos"/>
            </a:endParaRPr>
          </a:p>
          <a:p>
            <a:pPr marL="171450" indent="-17145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rgbClr val="303A46"/>
                </a:solidFill>
                <a:latin typeface="Aptos"/>
              </a:rPr>
              <a:t> Low Stock &amp; Expiry Alerts</a:t>
            </a:r>
            <a:r>
              <a:rPr sz="900">
                <a:solidFill>
                  <a:srgbClr val="303A46"/>
                </a:solidFill>
                <a:latin typeface="Aptos"/>
              </a:rPr>
              <a:t>
 </a:t>
            </a:r>
            <a:r>
              <a:rPr sz="900" dirty="0">
                <a:solidFill>
                  <a:srgbClr val="303A46"/>
                </a:solidFill>
                <a:latin typeface="Aptos"/>
              </a:rPr>
              <a:t>User 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2697480"/>
            <a:ext cx="411480" cy="0"/>
          </a:xfrm>
          <a:prstGeom prst="line">
            <a:avLst/>
          </a:prstGeom>
          <a:ln w="21590">
            <a:solidFill>
              <a:srgbClr val="116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81170" y="2450592"/>
            <a:ext cx="404021" cy="172355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ctr"/>
            <a:r>
              <a:rPr sz="1000" b="0" dirty="0">
                <a:solidFill>
                  <a:srgbClr val="11651F"/>
                </a:solidFill>
                <a:latin typeface="Aptos"/>
              </a:rPr>
              <a:t>events</a:t>
            </a:r>
            <a:endParaRPr sz="850" b="0" dirty="0">
              <a:solidFill>
                <a:srgbClr val="11651F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4663440" y="2697480"/>
            <a:ext cx="411480" cy="0"/>
          </a:xfrm>
          <a:prstGeom prst="line">
            <a:avLst/>
          </a:prstGeom>
          <a:ln w="21590">
            <a:solidFill>
              <a:srgbClr val="116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07243" y="2450592"/>
            <a:ext cx="323871" cy="172355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ctr"/>
            <a:r>
              <a:rPr sz="1000" b="0" dirty="0">
                <a:solidFill>
                  <a:srgbClr val="11651F"/>
                </a:solidFill>
                <a:latin typeface="Aptos"/>
              </a:rPr>
              <a:t>HTTP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0" y="2697480"/>
            <a:ext cx="411480" cy="0"/>
          </a:xfrm>
          <a:prstGeom prst="line">
            <a:avLst/>
          </a:prstGeom>
          <a:ln w="21590">
            <a:solidFill>
              <a:srgbClr val="116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923514" y="2450592"/>
            <a:ext cx="463333" cy="172355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ctr"/>
            <a:r>
              <a:rPr sz="1000" b="0" dirty="0">
                <a:solidFill>
                  <a:srgbClr val="11651F"/>
                </a:solidFill>
                <a:latin typeface="Aptos"/>
              </a:rPr>
              <a:t>request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35440" y="2697480"/>
            <a:ext cx="411480" cy="0"/>
          </a:xfrm>
          <a:prstGeom prst="line">
            <a:avLst/>
          </a:prstGeom>
          <a:ln w="21590">
            <a:solidFill>
              <a:srgbClr val="116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07297" y="2450592"/>
            <a:ext cx="267766" cy="172355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ctr"/>
            <a:r>
              <a:rPr sz="1000" b="0" dirty="0">
                <a:solidFill>
                  <a:srgbClr val="11651F"/>
                </a:solidFill>
                <a:latin typeface="Aptos"/>
              </a:rPr>
              <a:t>SQL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417320" y="4041648"/>
            <a:ext cx="9144000" cy="0"/>
          </a:xfrm>
          <a:prstGeom prst="line">
            <a:avLst/>
          </a:prstGeom>
          <a:ln w="19050">
            <a:solidFill>
              <a:srgbClr val="116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15940" y="4096512"/>
            <a:ext cx="3146759" cy="16466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ctr"/>
            <a:r>
              <a:rPr sz="950" b="1" dirty="0">
                <a:solidFill>
                  <a:srgbClr val="11651F"/>
                </a:solidFill>
                <a:latin typeface="Aptos"/>
              </a:rPr>
              <a:t>Response returns to the browser (JSON / HTTP response)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617720"/>
            <a:ext cx="10972800" cy="27432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l"/>
            <a:r>
              <a:rPr sz="1400" b="1">
                <a:solidFill>
                  <a:srgbClr val="273341"/>
                </a:solidFill>
                <a:latin typeface="Aptos"/>
              </a:rPr>
              <a:t>Application areas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83480"/>
            <a:ext cx="2514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dirty="0">
                <a:solidFill>
                  <a:srgbClr val="293442"/>
                </a:solidFill>
                <a:latin typeface="Aptos"/>
              </a:rPr>
              <a:t>Authentication</a:t>
            </a:r>
          </a:p>
          <a:p>
            <a:pPr algn="ctr">
              <a:spcBef>
                <a:spcPts val="300"/>
              </a:spcBef>
            </a:pPr>
            <a:r>
              <a:rPr sz="850" dirty="0">
                <a:solidFill>
                  <a:srgbClr val="11651F"/>
                </a:solidFill>
                <a:latin typeface="Aptos"/>
              </a:rPr>
              <a:t>Login / signup endpoints
(session flow where configured)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4983480"/>
            <a:ext cx="2514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dirty="0">
                <a:solidFill>
                  <a:srgbClr val="293442"/>
                </a:solidFill>
                <a:latin typeface="Aptos"/>
              </a:rPr>
              <a:t>Products &amp; Categories</a:t>
            </a:r>
          </a:p>
          <a:p>
            <a:pPr algn="ctr">
              <a:spcBef>
                <a:spcPts val="300"/>
              </a:spcBef>
            </a:pPr>
            <a:r>
              <a:rPr sz="850" dirty="0">
                <a:solidFill>
                  <a:srgbClr val="11651F"/>
                </a:solidFill>
                <a:latin typeface="Aptos"/>
              </a:rPr>
              <a:t>Product CRUD
Category association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983480"/>
            <a:ext cx="2514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dirty="0">
                <a:solidFill>
                  <a:srgbClr val="293442"/>
                </a:solidFill>
                <a:latin typeface="Aptos"/>
              </a:rPr>
              <a:t>Suppliers &amp; Batches</a:t>
            </a:r>
          </a:p>
          <a:p>
            <a:pPr algn="ctr">
              <a:spcBef>
                <a:spcPts val="300"/>
              </a:spcBef>
            </a:pPr>
            <a:r>
              <a:rPr sz="850" dirty="0">
                <a:solidFill>
                  <a:srgbClr val="11651F"/>
                </a:solidFill>
                <a:latin typeface="Aptos"/>
              </a:rPr>
              <a:t>Supplier CRUD
Batch / expiry workflows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0848" y="4983480"/>
            <a:ext cx="2514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 dirty="0">
                <a:solidFill>
                  <a:srgbClr val="293442"/>
                </a:solidFill>
                <a:latin typeface="Aptos"/>
              </a:rPr>
              <a:t>Inventory features</a:t>
            </a:r>
          </a:p>
          <a:p>
            <a:pPr algn="ctr">
              <a:spcBef>
                <a:spcPts val="300"/>
              </a:spcBef>
            </a:pPr>
            <a:r>
              <a:rPr sz="850" dirty="0">
                <a:solidFill>
                  <a:srgbClr val="11651F"/>
                </a:solidFill>
                <a:latin typeface="Aptos"/>
              </a:rPr>
              <a:t>Stock tracking
Alerts / reports as implemented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A58CEBA-990D-4846-25C2-D003740588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77"/>
          <a:stretch>
            <a:fillRect/>
          </a:stretch>
        </p:blipFill>
        <p:spPr>
          <a:xfrm>
            <a:off x="3239" y="0"/>
            <a:ext cx="12185521" cy="64892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167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Pooja Khandelwal</dc:creator>
  <cp:keywords/>
  <dc:description>generated using python-pptx</dc:description>
  <cp:lastModifiedBy>DeLL</cp:lastModifiedBy>
  <cp:revision>4</cp:revision>
  <dcterms:created xsi:type="dcterms:W3CDTF">2013-01-27T09:14:16Z</dcterms:created>
  <dcterms:modified xsi:type="dcterms:W3CDTF">2026-10-27T10:02:35Z</dcterms:modified>
  <cp:category/>
</cp:coreProperties>
</file>